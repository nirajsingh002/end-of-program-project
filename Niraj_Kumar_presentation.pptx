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media/image1.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0DEEF"/>
          </a:solidFill>
        </a:fill>
      </a:tcStyle>
    </a:wholeTbl>
    <a:band2H>
      <a:tcTxStyle b="def" i="def"/>
      <a:tcStyle>
        <a:tcBdr/>
        <a:fill>
          <a:solidFill>
            <a:srgbClr val="E9EFF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31" name="Shape 31"/>
          <p:cNvSpPr/>
          <p:nvPr>
            <p:ph type="sldImg"/>
          </p:nvPr>
        </p:nvSpPr>
        <p:spPr>
          <a:xfrm>
            <a:off x="1143000" y="685800"/>
            <a:ext cx="4572000" cy="3429000"/>
          </a:xfrm>
          <a:prstGeom prst="rect">
            <a:avLst/>
          </a:prstGeom>
        </p:spPr>
        <p:txBody>
          <a:bodyPr/>
          <a:lstStyle/>
          <a:p>
            <a:pPr/>
          </a:p>
        </p:txBody>
      </p:sp>
      <p:sp>
        <p:nvSpPr>
          <p:cNvPr id="32" name="Shape 32"/>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0" showMasterPhAnim="1">
  <p:cSld name="Title Slide">
    <p:spTree>
      <p:nvGrpSpPr>
        <p:cNvPr id="1" name=""/>
        <p:cNvGrpSpPr/>
        <p:nvPr/>
      </p:nvGrpSpPr>
      <p:grpSpPr>
        <a:xfrm>
          <a:off x="0" y="0"/>
          <a:ext cx="0" cy="0"/>
          <a:chOff x="0" y="0"/>
          <a:chExt cx="0" cy="0"/>
        </a:xfrm>
      </p:grpSpPr>
      <p:sp>
        <p:nvSpPr>
          <p:cNvPr id="14" name="Title Text"/>
          <p:cNvSpPr txBox="1"/>
          <p:nvPr>
            <p:ph type="title"/>
          </p:nvPr>
        </p:nvSpPr>
        <p:spPr>
          <a:xfrm>
            <a:off x="1524000" y="1122362"/>
            <a:ext cx="9144000" cy="2387601"/>
          </a:xfrm>
          <a:prstGeom prst="rect">
            <a:avLst/>
          </a:prstGeom>
        </p:spPr>
        <p:txBody>
          <a:bodyPr anchor="b"/>
          <a:lstStyle>
            <a:lvl1pPr algn="ctr">
              <a:defRPr sz="6000">
                <a:latin typeface="Garamond"/>
                <a:ea typeface="Garamond"/>
                <a:cs typeface="Garamond"/>
                <a:sym typeface="Garamond"/>
              </a:defRPr>
            </a:lvl1pPr>
          </a:lstStyle>
          <a:p>
            <a:pPr/>
            <a:r>
              <a:t>Title Text</a:t>
            </a:r>
          </a:p>
        </p:txBody>
      </p:sp>
      <p:sp>
        <p:nvSpPr>
          <p:cNvPr id="15" name="Body Level One…"/>
          <p:cNvSpPr txBox="1"/>
          <p:nvPr>
            <p:ph type="body" sz="quarter" idx="1"/>
          </p:nvPr>
        </p:nvSpPr>
        <p:spPr>
          <a:xfrm>
            <a:off x="1524000" y="3602037"/>
            <a:ext cx="9144000" cy="1655763"/>
          </a:xfrm>
          <a:prstGeom prst="rect">
            <a:avLst/>
          </a:prstGeom>
        </p:spPr>
        <p:txBody>
          <a:bodyPr/>
          <a:lstStyle>
            <a:lvl1pPr marL="0" indent="0" algn="ctr">
              <a:buSzTx/>
              <a:buFontTx/>
              <a:buNone/>
              <a:defRPr sz="2400">
                <a:latin typeface="+mn-lt"/>
                <a:ea typeface="+mn-ea"/>
                <a:cs typeface="+mn-cs"/>
                <a:sym typeface="Calibri"/>
              </a:defRPr>
            </a:lvl1pPr>
            <a:lvl2pPr marL="0" indent="457200" algn="ctr">
              <a:buSzTx/>
              <a:buFontTx/>
              <a:buNone/>
              <a:defRPr sz="2400">
                <a:latin typeface="+mn-lt"/>
                <a:ea typeface="+mn-ea"/>
                <a:cs typeface="+mn-cs"/>
                <a:sym typeface="Calibri"/>
              </a:defRPr>
            </a:lvl2pPr>
            <a:lvl3pPr marL="0" indent="914400" algn="ctr">
              <a:buSzTx/>
              <a:buFontTx/>
              <a:buNone/>
              <a:defRPr sz="2400">
                <a:latin typeface="+mn-lt"/>
                <a:ea typeface="+mn-ea"/>
                <a:cs typeface="+mn-cs"/>
                <a:sym typeface="Calibri"/>
              </a:defRPr>
            </a:lvl3pPr>
            <a:lvl4pPr marL="0" indent="1371600" algn="ctr">
              <a:buSzTx/>
              <a:buFontTx/>
              <a:buNone/>
              <a:defRPr sz="2400">
                <a:latin typeface="+mn-lt"/>
                <a:ea typeface="+mn-ea"/>
                <a:cs typeface="+mn-cs"/>
                <a:sym typeface="Calibri"/>
              </a:defRPr>
            </a:lvl4pPr>
            <a:lvl5pPr marL="0" indent="1828800" algn="ctr">
              <a:buSzTx/>
              <a:buFontTx/>
              <a:buNone/>
              <a:defRPr sz="2400">
                <a:latin typeface="+mn-lt"/>
                <a:ea typeface="+mn-ea"/>
                <a:cs typeface="+mn-cs"/>
                <a:sym typeface="Calibri"/>
              </a:defRPr>
            </a:lvl5pPr>
          </a:lstStyle>
          <a:p>
            <a:pPr/>
            <a:r>
              <a:t>Body Level One</a:t>
            </a:r>
          </a:p>
          <a:p>
            <a:pPr lvl="1"/>
            <a:r>
              <a:t>Body Level Two</a:t>
            </a:r>
          </a:p>
          <a:p>
            <a:pPr lvl="2"/>
            <a:r>
              <a:t>Body Level Three</a:t>
            </a:r>
          </a:p>
          <a:p>
            <a:pPr lvl="3"/>
            <a:r>
              <a:t>Body Level Four</a:t>
            </a:r>
          </a:p>
          <a:p>
            <a:pPr lvl="4"/>
            <a:r>
              <a:t>Body Level Five</a:t>
            </a:r>
          </a:p>
        </p:txBody>
      </p:sp>
      <p:sp>
        <p:nvSpPr>
          <p:cNvPr id="16" name="Slide Number"/>
          <p:cNvSpPr txBox="1"/>
          <p:nvPr>
            <p:ph type="sldNum" sz="quarter" idx="2"/>
          </p:nvPr>
        </p:nvSpPr>
        <p:spPr>
          <a:xfrm>
            <a:off x="8610600" y="6356350"/>
            <a:ext cx="335866" cy="333088"/>
          </a:xfrm>
          <a:prstGeom prst="rect">
            <a:avLst/>
          </a:prstGeom>
        </p:spPr>
        <p:txBody>
          <a:bodyPr/>
          <a:lstStyle>
            <a:lvl1pPr algn="l">
              <a:defRPr>
                <a:solidFill>
                  <a:srgbClr val="000000"/>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3"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4" name="Title Text"/>
          <p:cNvSpPr txBox="1"/>
          <p:nvPr>
            <p:ph type="title"/>
          </p:nvPr>
        </p:nvSpPr>
        <p:spPr>
          <a:prstGeom prst="rect">
            <a:avLst/>
          </a:prstGeom>
        </p:spPr>
        <p:txBody>
          <a:bodyPr/>
          <a:lstStyle/>
          <a:p>
            <a:pPr/>
            <a:r>
              <a:t>Title Text</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Body Level One…"/>
          <p:cNvSpPr txBox="1"/>
          <p:nvPr>
            <p:ph type="body" idx="1"/>
          </p:nvPr>
        </p:nvSpPr>
        <p:spPr>
          <a:xfrm>
            <a:off x="166485" y="1105626"/>
            <a:ext cx="11859028" cy="5156629"/>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3" name="Title Text"/>
          <p:cNvSpPr txBox="1"/>
          <p:nvPr>
            <p:ph type="title"/>
          </p:nvPr>
        </p:nvSpPr>
        <p:spPr>
          <a:xfrm>
            <a:off x="166485" y="218260"/>
            <a:ext cx="10692015" cy="556113"/>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Title Text</a:t>
            </a:r>
          </a:p>
        </p:txBody>
      </p:sp>
      <p:pic>
        <p:nvPicPr>
          <p:cNvPr id="4" name="Picture 8" descr="Picture 8"/>
          <p:cNvPicPr>
            <a:picLocks noChangeAspect="1"/>
          </p:cNvPicPr>
          <p:nvPr/>
        </p:nvPicPr>
        <p:blipFill>
          <a:blip r:embed="rId2">
            <a:extLst/>
          </a:blip>
          <a:stretch>
            <a:fillRect/>
          </a:stretch>
        </p:blipFill>
        <p:spPr>
          <a:xfrm>
            <a:off x="11027985" y="52447"/>
            <a:ext cx="997528" cy="997528"/>
          </a:xfrm>
          <a:prstGeom prst="rect">
            <a:avLst/>
          </a:prstGeom>
          <a:ln w="12700">
            <a:miter lim="400000"/>
          </a:ln>
        </p:spPr>
      </p:pic>
      <p:sp>
        <p:nvSpPr>
          <p:cNvPr id="5" name="Rectangle 1"/>
          <p:cNvSpPr/>
          <p:nvPr/>
        </p:nvSpPr>
        <p:spPr>
          <a:xfrm>
            <a:off x="0" y="6572250"/>
            <a:ext cx="12192000" cy="280844"/>
          </a:xfrm>
          <a:prstGeom prst="rect">
            <a:avLst/>
          </a:prstGeom>
          <a:solidFill>
            <a:srgbClr val="800000"/>
          </a:solidFill>
          <a:ln w="12700">
            <a:solidFill>
              <a:srgbClr val="26415A"/>
            </a:solidFill>
            <a:miter/>
          </a:ln>
        </p:spPr>
        <p:txBody>
          <a:bodyPr lIns="45719" rIns="45719" anchor="ctr"/>
          <a:lstStyle/>
          <a:p>
            <a:pPr algn="ctr">
              <a:defRPr>
                <a:solidFill>
                  <a:srgbClr val="D40100"/>
                </a:solidFill>
              </a:defRPr>
            </a:pPr>
          </a:p>
        </p:txBody>
      </p:sp>
      <p:sp>
        <p:nvSpPr>
          <p:cNvPr id="6" name="Slide Number"/>
          <p:cNvSpPr txBox="1"/>
          <p:nvPr>
            <p:ph type="sldNum" sz="quarter" idx="2"/>
          </p:nvPr>
        </p:nvSpPr>
        <p:spPr>
          <a:xfrm>
            <a:off x="11856134" y="6533885"/>
            <a:ext cx="335867" cy="333088"/>
          </a:xfrm>
          <a:prstGeom prst="rect">
            <a:avLst/>
          </a:prstGeom>
          <a:ln w="12700">
            <a:miter lim="400000"/>
          </a:ln>
        </p:spPr>
        <p:txBody>
          <a:bodyPr wrap="none" lIns="45719" rIns="45719">
            <a:spAutoFit/>
          </a:bodyPr>
          <a:lstStyle>
            <a:lvl1pPr algn="r">
              <a:defRPr>
                <a:solidFill>
                  <a:srgbClr val="FFFFFF"/>
                </a:solidFill>
              </a:defRPr>
            </a:lvl1pPr>
          </a:lstStyle>
          <a:p>
            <a:pPr/>
            <a:fld id="{86CB4B4D-7CA3-9044-876B-883B54F8677D}" type="slidenum"/>
          </a:p>
        </p:txBody>
      </p:sp>
      <p:sp>
        <p:nvSpPr>
          <p:cNvPr id="7" name="TextBox 6"/>
          <p:cNvSpPr txBox="1"/>
          <p:nvPr/>
        </p:nvSpPr>
        <p:spPr>
          <a:xfrm>
            <a:off x="2134076" y="6550222"/>
            <a:ext cx="7923843" cy="3073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400">
                <a:solidFill>
                  <a:srgbClr val="FFFFFF"/>
                </a:solidFill>
                <a:latin typeface="Lato"/>
                <a:ea typeface="Lato"/>
                <a:cs typeface="Lato"/>
                <a:sym typeface="Lato"/>
              </a:defRPr>
            </a:lvl1pPr>
          </a:lstStyle>
          <a:p>
            <a:pPr/>
            <a:r>
              <a:t>AI/ML for Industry, Continuing Education Programme, Indian Institute of Technology Delhi</a:t>
            </a:r>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Lato"/>
          <a:ea typeface="Lato"/>
          <a:cs typeface="Lato"/>
          <a:sym typeface="Lato"/>
        </a:defRPr>
      </a:lvl1pPr>
      <a:lvl2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Lato"/>
          <a:ea typeface="Lato"/>
          <a:cs typeface="Lato"/>
          <a:sym typeface="Lato"/>
        </a:defRPr>
      </a:lvl2pPr>
      <a:lvl3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Lato"/>
          <a:ea typeface="Lato"/>
          <a:cs typeface="Lato"/>
          <a:sym typeface="Lato"/>
        </a:defRPr>
      </a:lvl3pPr>
      <a:lvl4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Lato"/>
          <a:ea typeface="Lato"/>
          <a:cs typeface="Lato"/>
          <a:sym typeface="Lato"/>
        </a:defRPr>
      </a:lvl4pPr>
      <a:lvl5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Lato"/>
          <a:ea typeface="Lato"/>
          <a:cs typeface="Lato"/>
          <a:sym typeface="Lato"/>
        </a:defRPr>
      </a:lvl5pPr>
      <a:lvl6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Lato"/>
          <a:ea typeface="Lato"/>
          <a:cs typeface="Lato"/>
          <a:sym typeface="Lato"/>
        </a:defRPr>
      </a:lvl6pPr>
      <a:lvl7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Lato"/>
          <a:ea typeface="Lato"/>
          <a:cs typeface="Lato"/>
          <a:sym typeface="Lato"/>
        </a:defRPr>
      </a:lvl7pPr>
      <a:lvl8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Lato"/>
          <a:ea typeface="Lato"/>
          <a:cs typeface="Lato"/>
          <a:sym typeface="Lato"/>
        </a:defRPr>
      </a:lvl8pPr>
      <a:lvl9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Lato"/>
          <a:ea typeface="Lato"/>
          <a:cs typeface="Lato"/>
          <a:sym typeface="Lato"/>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Lato"/>
          <a:ea typeface="Lato"/>
          <a:cs typeface="Lato"/>
          <a:sym typeface="Lato"/>
        </a:defRPr>
      </a:lvl1pPr>
      <a:lvl2pPr marL="723900" marR="0" indent="-2667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Lato"/>
          <a:ea typeface="Lato"/>
          <a:cs typeface="Lato"/>
          <a:sym typeface="Lato"/>
        </a:defRPr>
      </a:lvl2pPr>
      <a:lvl3pPr marL="1234439" marR="0" indent="-320039"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Lato"/>
          <a:ea typeface="Lato"/>
          <a:cs typeface="Lato"/>
          <a:sym typeface="Lato"/>
        </a:defRPr>
      </a:lvl3pPr>
      <a:lvl4pPr marL="1727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Lato"/>
          <a:ea typeface="Lato"/>
          <a:cs typeface="Lato"/>
          <a:sym typeface="Lato"/>
        </a:defRPr>
      </a:lvl4pPr>
      <a:lvl5pPr marL="21844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Lato"/>
          <a:ea typeface="Lato"/>
          <a:cs typeface="Lato"/>
          <a:sym typeface="Lato"/>
        </a:defRPr>
      </a:lvl5pPr>
      <a:lvl6pPr marL="26416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Lato"/>
          <a:ea typeface="Lato"/>
          <a:cs typeface="Lato"/>
          <a:sym typeface="Lato"/>
        </a:defRPr>
      </a:lvl6pPr>
      <a:lvl7pPr marL="30988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Lato"/>
          <a:ea typeface="Lato"/>
          <a:cs typeface="Lato"/>
          <a:sym typeface="Lato"/>
        </a:defRPr>
      </a:lvl7pPr>
      <a:lvl8pPr marL="35560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Lato"/>
          <a:ea typeface="Lato"/>
          <a:cs typeface="Lato"/>
          <a:sym typeface="Lato"/>
        </a:defRPr>
      </a:lvl8pPr>
      <a:lvl9pPr marL="4013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Lato"/>
          <a:ea typeface="Lato"/>
          <a:cs typeface="Lato"/>
          <a:sym typeface="Lato"/>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 name="Rectangle 33"/>
          <p:cNvSpPr/>
          <p:nvPr/>
        </p:nvSpPr>
        <p:spPr>
          <a:xfrm>
            <a:off x="-2" y="0"/>
            <a:ext cx="12188954" cy="6858000"/>
          </a:xfrm>
          <a:prstGeom prst="rect">
            <a:avLst/>
          </a:prstGeom>
          <a:solidFill>
            <a:srgbClr val="FFFFFF"/>
          </a:solidFill>
          <a:ln w="12700">
            <a:miter lim="400000"/>
          </a:ln>
        </p:spPr>
        <p:txBody>
          <a:bodyPr lIns="45719" rIns="45719" anchor="ctr"/>
          <a:lstStyle/>
          <a:p>
            <a:pPr algn="ctr">
              <a:defRPr>
                <a:solidFill>
                  <a:srgbClr val="FFFFFF"/>
                </a:solidFill>
              </a:defRPr>
            </a:pPr>
          </a:p>
        </p:txBody>
      </p:sp>
      <p:pic>
        <p:nvPicPr>
          <p:cNvPr id="35" name="Picture 20" descr="Picture 20"/>
          <p:cNvPicPr>
            <a:picLocks noChangeAspect="1"/>
          </p:cNvPicPr>
          <p:nvPr/>
        </p:nvPicPr>
        <p:blipFill>
          <a:blip r:embed="rId2">
            <a:extLst/>
          </a:blip>
          <a:srcRect l="0" t="12221" r="0" b="12221"/>
          <a:stretch>
            <a:fillRect/>
          </a:stretch>
        </p:blipFill>
        <p:spPr>
          <a:xfrm>
            <a:off x="-3047" y="9"/>
            <a:ext cx="12192000" cy="6857991"/>
          </a:xfrm>
          <a:prstGeom prst="rect">
            <a:avLst/>
          </a:prstGeom>
          <a:ln w="12700">
            <a:miter lim="400000"/>
          </a:ln>
        </p:spPr>
      </p:pic>
      <p:sp>
        <p:nvSpPr>
          <p:cNvPr id="36" name="Rectangle 35"/>
          <p:cNvSpPr/>
          <p:nvPr/>
        </p:nvSpPr>
        <p:spPr>
          <a:xfrm>
            <a:off x="-1" y="2207602"/>
            <a:ext cx="12192001" cy="3162147"/>
          </a:xfrm>
          <a:prstGeom prst="rect">
            <a:avLst/>
          </a:prstGeom>
          <a:gradFill>
            <a:gsLst>
              <a:gs pos="0">
                <a:srgbClr val="000000">
                  <a:alpha val="0"/>
                </a:srgbClr>
              </a:gs>
              <a:gs pos="25000">
                <a:srgbClr val="000000">
                  <a:alpha val="15000"/>
                </a:srgbClr>
              </a:gs>
              <a:gs pos="50000">
                <a:srgbClr val="000000">
                  <a:alpha val="30000"/>
                </a:srgbClr>
              </a:gs>
              <a:gs pos="75000">
                <a:srgbClr val="000000">
                  <a:alpha val="15000"/>
                </a:srgbClr>
              </a:gs>
              <a:gs pos="100000">
                <a:srgbClr val="000000">
                  <a:alpha val="0"/>
                </a:srgbClr>
              </a:gs>
            </a:gsLst>
            <a:lin ang="16200000"/>
          </a:gradFill>
          <a:ln w="12700">
            <a:miter lim="400000"/>
          </a:ln>
        </p:spPr>
        <p:txBody>
          <a:bodyPr lIns="45719" rIns="45719" anchor="ctr"/>
          <a:lstStyle/>
          <a:p>
            <a:pPr algn="ctr">
              <a:defRPr>
                <a:solidFill>
                  <a:srgbClr val="FFFFFF"/>
                </a:solidFill>
              </a:defRPr>
            </a:pPr>
          </a:p>
        </p:txBody>
      </p:sp>
      <p:sp>
        <p:nvSpPr>
          <p:cNvPr id="37" name="Title 1"/>
          <p:cNvSpPr txBox="1"/>
          <p:nvPr>
            <p:ph type="ctrTitle"/>
          </p:nvPr>
        </p:nvSpPr>
        <p:spPr>
          <a:xfrm>
            <a:off x="1097280" y="844952"/>
            <a:ext cx="10058401" cy="1941005"/>
          </a:xfrm>
          <a:prstGeom prst="rect">
            <a:avLst/>
          </a:prstGeom>
          <a:effectLst>
            <a:outerShdw sx="100000" sy="100000" kx="0" ky="0" algn="b" rotWithShape="0" blurRad="50800" dist="38100" dir="2700000">
              <a:srgbClr val="000000">
                <a:alpha val="40000"/>
              </a:srgbClr>
            </a:outerShdw>
          </a:effectLst>
        </p:spPr>
        <p:txBody>
          <a:bodyPr/>
          <a:lstStyle>
            <a:lvl1pPr>
              <a:defRPr b="1" sz="5200">
                <a:solidFill>
                  <a:srgbClr val="FFFFFF"/>
                </a:solidFill>
                <a:latin typeface="Lato"/>
                <a:ea typeface="Lato"/>
                <a:cs typeface="Lato"/>
                <a:sym typeface="Lato"/>
              </a:defRPr>
            </a:lvl1pPr>
          </a:lstStyle>
          <a:p>
            <a:pPr/>
            <a:r>
              <a:t>Soil Analysis and Crop Recommendations </a:t>
            </a:r>
          </a:p>
        </p:txBody>
      </p:sp>
      <p:sp>
        <p:nvSpPr>
          <p:cNvPr id="38" name="Subtitle 4"/>
          <p:cNvSpPr txBox="1"/>
          <p:nvPr>
            <p:ph type="subTitle" sz="quarter" idx="1"/>
          </p:nvPr>
        </p:nvSpPr>
        <p:spPr>
          <a:xfrm>
            <a:off x="1063752" y="5369747"/>
            <a:ext cx="10058401" cy="1282708"/>
          </a:xfrm>
          <a:prstGeom prst="rect">
            <a:avLst/>
          </a:prstGeom>
          <a:effectLst>
            <a:outerShdw sx="100000" sy="100000" kx="0" ky="0" algn="b" rotWithShape="0" blurRad="50800" dist="38100" dir="2700000">
              <a:srgbClr val="000000">
                <a:alpha val="40000"/>
              </a:srgbClr>
            </a:outerShdw>
          </a:effectLst>
        </p:spPr>
        <p:txBody>
          <a:bodyPr/>
          <a:lstStyle/>
          <a:p>
            <a:pPr defTabSz="905255">
              <a:lnSpc>
                <a:spcPct val="81000"/>
              </a:lnSpc>
              <a:spcBef>
                <a:spcPts val="900"/>
              </a:spcBef>
              <a:defRPr sz="2376">
                <a:solidFill>
                  <a:srgbClr val="FFFFFF"/>
                </a:solidFill>
                <a:latin typeface="Lato"/>
                <a:ea typeface="Lato"/>
                <a:cs typeface="Lato"/>
                <a:sym typeface="Lato"/>
              </a:defRPr>
            </a:pPr>
            <a:r>
              <a:t>AI/ML for Industry</a:t>
            </a:r>
          </a:p>
          <a:p>
            <a:pPr defTabSz="905255">
              <a:lnSpc>
                <a:spcPct val="81000"/>
              </a:lnSpc>
              <a:spcBef>
                <a:spcPts val="900"/>
              </a:spcBef>
              <a:defRPr sz="2376">
                <a:solidFill>
                  <a:srgbClr val="FFFFFF"/>
                </a:solidFill>
                <a:latin typeface="Lato"/>
                <a:ea typeface="Lato"/>
                <a:cs typeface="Lato"/>
                <a:sym typeface="Lato"/>
              </a:defRPr>
            </a:pPr>
            <a:r>
              <a:t>Continuing Education Programme</a:t>
            </a:r>
          </a:p>
          <a:p>
            <a:pPr defTabSz="905255">
              <a:lnSpc>
                <a:spcPct val="81000"/>
              </a:lnSpc>
              <a:spcBef>
                <a:spcPts val="900"/>
              </a:spcBef>
              <a:defRPr sz="2376">
                <a:solidFill>
                  <a:srgbClr val="FFFFFF"/>
                </a:solidFill>
                <a:latin typeface="Lato"/>
                <a:ea typeface="Lato"/>
                <a:cs typeface="Lato"/>
                <a:sym typeface="Lato"/>
              </a:defRPr>
            </a:pPr>
            <a:r>
              <a:t>Indian Institute of Technology Delhi</a:t>
            </a:r>
          </a:p>
        </p:txBody>
      </p:sp>
      <p:sp>
        <p:nvSpPr>
          <p:cNvPr id="39" name="Title 1"/>
          <p:cNvSpPr txBox="1"/>
          <p:nvPr/>
        </p:nvSpPr>
        <p:spPr>
          <a:xfrm>
            <a:off x="1143000" y="2785957"/>
            <a:ext cx="9966960" cy="1126287"/>
          </a:xfrm>
          <a:prstGeom prst="rect">
            <a:avLst/>
          </a:prstGeom>
          <a:ln w="12700">
            <a:miter lim="400000"/>
          </a:ln>
          <a:effectLst>
            <a:outerShdw sx="100000" sy="100000" kx="0" ky="0" algn="b" rotWithShape="0" blurRad="50800" dist="38100" dir="2700000">
              <a:srgbClr val="000000">
                <a:alpha val="40000"/>
              </a:srgbClr>
            </a:outerShdw>
          </a:effectLst>
          <a:extLst>
            <a:ext uri="{C572A759-6A51-4108-AA02-DFA0A04FC94B}">
              <ma14:wrappingTextBoxFlag xmlns:ma14="http://schemas.microsoft.com/office/mac/drawingml/2011/main" val="1"/>
            </a:ext>
          </a:extLst>
        </p:spPr>
        <p:txBody>
          <a:bodyPr lIns="45719" rIns="45719" anchor="b">
            <a:normAutofit fontScale="100000" lnSpcReduction="0"/>
          </a:bodyPr>
          <a:lstStyle/>
          <a:p>
            <a:pPr algn="ctr" defTabSz="905255">
              <a:lnSpc>
                <a:spcPct val="81000"/>
              </a:lnSpc>
              <a:defRPr b="1" sz="3267">
                <a:solidFill>
                  <a:srgbClr val="FFFFFF"/>
                </a:solidFill>
                <a:latin typeface="Lato"/>
                <a:ea typeface="Lato"/>
                <a:cs typeface="Lato"/>
                <a:sym typeface="Lato"/>
              </a:defRPr>
            </a:pPr>
            <a:r>
              <a:t>Niraj Kumar</a:t>
            </a:r>
            <a:endParaRPr sz="5445">
              <a:latin typeface="Garamond"/>
              <a:ea typeface="Garamond"/>
              <a:cs typeface="Garamond"/>
              <a:sym typeface="Garamond"/>
            </a:endParaRPr>
          </a:p>
          <a:p>
            <a:pPr algn="ctr" defTabSz="905255">
              <a:lnSpc>
                <a:spcPct val="81000"/>
              </a:lnSpc>
              <a:defRPr b="1" sz="2772">
                <a:solidFill>
                  <a:srgbClr val="FFFFFF"/>
                </a:solidFill>
                <a:latin typeface="Lato"/>
                <a:ea typeface="Lato"/>
                <a:cs typeface="Lato"/>
                <a:sym typeface="Lato"/>
              </a:defRPr>
            </a:pPr>
          </a:p>
          <a:p>
            <a:pPr algn="ctr" defTabSz="905255">
              <a:lnSpc>
                <a:spcPct val="81000"/>
              </a:lnSpc>
              <a:defRPr b="1" sz="1979">
                <a:solidFill>
                  <a:srgbClr val="FFFFFF"/>
                </a:solidFill>
                <a:latin typeface="Lato"/>
                <a:ea typeface="Lato"/>
                <a:cs typeface="Lato"/>
                <a:sym typeface="Lato"/>
              </a:defRPr>
            </a:pPr>
            <a:r>
              <a:t>21/02/2026</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 name="Content Placeholder 1"/>
          <p:cNvSpPr txBox="1"/>
          <p:nvPr>
            <p:ph type="body" idx="1"/>
          </p:nvPr>
        </p:nvSpPr>
        <p:spPr>
          <a:xfrm>
            <a:off x="166484" y="1105626"/>
            <a:ext cx="11859029" cy="5156628"/>
          </a:xfrm>
          <a:prstGeom prst="rect">
            <a:avLst/>
          </a:prstGeom>
        </p:spPr>
        <p:txBody>
          <a:bodyPr/>
          <a:lstStyle/>
          <a:p>
            <a:pPr marL="0" indent="0" defTabSz="457200">
              <a:lnSpc>
                <a:spcPct val="100000"/>
              </a:lnSpc>
              <a:spcBef>
                <a:spcPts val="0"/>
              </a:spcBef>
              <a:buSzTx/>
              <a:buFontTx/>
              <a:buNone/>
              <a:defRPr sz="1200">
                <a:latin typeface="Times Roman"/>
                <a:ea typeface="Times Roman"/>
                <a:cs typeface="Times Roman"/>
                <a:sym typeface="Times Roman"/>
              </a:defRPr>
            </a:pPr>
            <a:r>
              <a:t>Agriculture productivity depends heavily on soil nutrient content, especially Nitrogen, Phosphorus, and Potassium (NPK). Traditional soil testing methods are expensive and time-consuming. With advancements in AI, image processing and machine learning can be used to predict soil nutrient levels. Inspired by modern agricultural technologies used by organisations like ISRO and NASA, this project aims to analyse soil images, predict NPK values, and recommend suitable crops. A realistic synthetic dataset was created to train and test the prediction models.</a:t>
            </a:r>
          </a:p>
          <a:p>
            <a:pPr marL="0" indent="0" defTabSz="457200">
              <a:lnSpc>
                <a:spcPct val="100000"/>
              </a:lnSpc>
              <a:spcBef>
                <a:spcPts val="1200"/>
              </a:spcBef>
              <a:buSzTx/>
              <a:buFontTx/>
              <a:buNone/>
              <a:defRPr sz="1200">
                <a:latin typeface="Times Roman"/>
                <a:ea typeface="Times Roman"/>
                <a:cs typeface="Times Roman"/>
                <a:sym typeface="Times Roman"/>
              </a:defRPr>
            </a:pPr>
            <a:r>
              <a:t>Inspired by these technological advancements, this project aims to develop a smart system that can:</a:t>
            </a:r>
          </a:p>
          <a:p>
            <a:pPr marL="120315" indent="-120315" defTabSz="457200">
              <a:lnSpc>
                <a:spcPct val="100000"/>
              </a:lnSpc>
              <a:spcBef>
                <a:spcPts val="1200"/>
              </a:spcBef>
              <a:buFontTx/>
              <a:defRPr sz="1200">
                <a:latin typeface="Times Roman"/>
                <a:ea typeface="Times Roman"/>
                <a:cs typeface="Times Roman"/>
                <a:sym typeface="Times Roman"/>
              </a:defRPr>
            </a:pPr>
            <a:r>
              <a:t>Analyse soil images</a:t>
            </a:r>
          </a:p>
          <a:p>
            <a:pPr marL="120315" indent="-120315" defTabSz="457200">
              <a:lnSpc>
                <a:spcPct val="100000"/>
              </a:lnSpc>
              <a:spcBef>
                <a:spcPts val="1200"/>
              </a:spcBef>
              <a:buFontTx/>
              <a:defRPr sz="1200">
                <a:latin typeface="Times Roman"/>
                <a:ea typeface="Times Roman"/>
                <a:cs typeface="Times Roman"/>
                <a:sym typeface="Times Roman"/>
              </a:defRPr>
            </a:pPr>
            <a:r>
              <a:t>Predict NPK values using Machine Learning</a:t>
            </a:r>
          </a:p>
          <a:p>
            <a:pPr marL="120315" indent="-120315" defTabSz="457200">
              <a:lnSpc>
                <a:spcPct val="100000"/>
              </a:lnSpc>
              <a:spcBef>
                <a:spcPts val="1200"/>
              </a:spcBef>
              <a:buFontTx/>
              <a:defRPr sz="1200">
                <a:latin typeface="Times Roman"/>
                <a:ea typeface="Times Roman"/>
                <a:cs typeface="Times Roman"/>
                <a:sym typeface="Times Roman"/>
              </a:defRPr>
            </a:pPr>
            <a:r>
              <a:t>Recommend suitable crops based on soil conditions</a:t>
            </a:r>
          </a:p>
          <a:p>
            <a:pPr marL="120315" indent="-120315" defTabSz="457200">
              <a:lnSpc>
                <a:spcPct val="100000"/>
              </a:lnSpc>
              <a:spcBef>
                <a:spcPts val="1200"/>
              </a:spcBef>
              <a:buFontTx/>
              <a:defRPr sz="1200">
                <a:latin typeface="Times Roman"/>
                <a:ea typeface="Times Roman"/>
                <a:cs typeface="Times Roman"/>
                <a:sym typeface="Times Roman"/>
              </a:defRPr>
            </a:pPr>
            <a:r>
              <a:t>Return the human readable explanation using Deep Learning model</a:t>
            </a:r>
          </a:p>
          <a:p>
            <a:pPr marL="0" indent="0" defTabSz="457200">
              <a:lnSpc>
                <a:spcPct val="100000"/>
              </a:lnSpc>
              <a:spcBef>
                <a:spcPts val="1200"/>
              </a:spcBef>
              <a:buSzTx/>
              <a:buFontTx/>
              <a:buNone/>
              <a:defRPr sz="1200">
                <a:latin typeface="Times Roman"/>
                <a:ea typeface="Times Roman"/>
                <a:cs typeface="Times Roman"/>
                <a:sym typeface="Times Roman"/>
              </a:defRPr>
            </a:pPr>
            <a:r>
              <a:t>Due to limited availability of real-world agricultural soil datasets, a realistic synthetic (dummy) soil dataset was generated using standard agricultural nutrient ranges. The dataset was used to train predictive models capable of estimating soil nutrient levels from extracted image features.</a:t>
            </a:r>
          </a:p>
          <a:p>
            <a:pPr marL="0" indent="0" defTabSz="457200">
              <a:lnSpc>
                <a:spcPct val="100000"/>
              </a:lnSpc>
              <a:spcBef>
                <a:spcPts val="1200"/>
              </a:spcBef>
              <a:buSzTx/>
              <a:buFontTx/>
              <a:buNone/>
              <a:defRPr sz="1200">
                <a:latin typeface="Times Roman"/>
                <a:ea typeface="Times Roman"/>
                <a:cs typeface="Times Roman"/>
                <a:sym typeface="Times Roman"/>
              </a:defRPr>
            </a:pPr>
          </a:p>
        </p:txBody>
      </p:sp>
      <p:sp>
        <p:nvSpPr>
          <p:cNvPr id="42" name="Title 2"/>
          <p:cNvSpPr txBox="1"/>
          <p:nvPr>
            <p:ph type="title"/>
          </p:nvPr>
        </p:nvSpPr>
        <p:spPr>
          <a:xfrm>
            <a:off x="166485" y="218260"/>
            <a:ext cx="10692015" cy="556113"/>
          </a:xfrm>
          <a:prstGeom prst="rect">
            <a:avLst/>
          </a:prstGeom>
        </p:spPr>
        <p:txBody>
          <a:bodyPr/>
          <a:lstStyle>
            <a:lvl1pPr defTabSz="740663">
              <a:defRPr sz="3159"/>
            </a:lvl1pPr>
          </a:lstStyle>
          <a:p>
            <a:pPr/>
            <a:r>
              <a:t>Background</a:t>
            </a:r>
          </a:p>
        </p:txBody>
      </p:sp>
      <p:sp>
        <p:nvSpPr>
          <p:cNvPr id="43" name="Slide Number Placeholder 3"/>
          <p:cNvSpPr txBox="1"/>
          <p:nvPr>
            <p:ph type="sldNum" sz="quarter" idx="2"/>
          </p:nvPr>
        </p:nvSpPr>
        <p:spPr>
          <a:xfrm>
            <a:off x="11971996" y="6533885"/>
            <a:ext cx="220004" cy="33308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pSp>
        <p:nvGrpSpPr>
          <p:cNvPr id="46" name="Image Gallery"/>
          <p:cNvGrpSpPr/>
          <p:nvPr/>
        </p:nvGrpSpPr>
        <p:grpSpPr>
          <a:xfrm>
            <a:off x="626744" y="3883119"/>
            <a:ext cx="10379923" cy="2854083"/>
            <a:chOff x="0" y="0"/>
            <a:chExt cx="10379922" cy="2854081"/>
          </a:xfrm>
        </p:grpSpPr>
        <p:pic>
          <p:nvPicPr>
            <p:cNvPr id="44" name="ChatGPT Image Feb 20, 2026, 04_17_59 PM.png" descr="ChatGPT Image Feb 20, 2026, 04_17_59 PM.png"/>
            <p:cNvPicPr>
              <a:picLocks noChangeAspect="1"/>
            </p:cNvPicPr>
            <p:nvPr/>
          </p:nvPicPr>
          <p:blipFill>
            <a:blip r:embed="rId2">
              <a:extLst/>
            </a:blip>
            <a:srcRect l="0" t="14600" r="0" b="14600"/>
            <a:stretch>
              <a:fillRect/>
            </a:stretch>
          </p:blipFill>
          <p:spPr>
            <a:xfrm>
              <a:off x="2664681" y="0"/>
              <a:ext cx="5050560" cy="2383835"/>
            </a:xfrm>
            <a:prstGeom prst="rect">
              <a:avLst/>
            </a:prstGeom>
            <a:ln w="12700" cap="flat">
              <a:noFill/>
              <a:miter lim="400000"/>
            </a:ln>
            <a:effectLst/>
          </p:spPr>
        </p:pic>
        <p:sp>
          <p:nvSpPr>
            <p:cNvPr id="45" name="Rectangle"/>
            <p:cNvSpPr/>
            <p:nvPr/>
          </p:nvSpPr>
          <p:spPr>
            <a:xfrm>
              <a:off x="0" y="2460034"/>
              <a:ext cx="10379923" cy="3940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t">
              <a:noAutofit/>
            </a:bodyPr>
            <a:lstStyle/>
            <a:p>
              <a:pPr/>
              <a:r>
                <a:t> </a:t>
              </a:r>
            </a:p>
          </p:txBody>
        </p:sp>
      </p:gr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8" name="Content Placeholder 1"/>
          <p:cNvSpPr txBox="1"/>
          <p:nvPr>
            <p:ph type="body" idx="1"/>
          </p:nvPr>
        </p:nvSpPr>
        <p:spPr>
          <a:xfrm>
            <a:off x="166484" y="1105626"/>
            <a:ext cx="11859029" cy="5156628"/>
          </a:xfrm>
          <a:prstGeom prst="rect">
            <a:avLst/>
          </a:prstGeom>
        </p:spPr>
        <p:txBody>
          <a:bodyPr/>
          <a:lstStyle/>
          <a:p>
            <a:pPr marL="0" indent="0" defTabSz="457200">
              <a:lnSpc>
                <a:spcPct val="100000"/>
              </a:lnSpc>
              <a:spcBef>
                <a:spcPts val="1200"/>
              </a:spcBef>
              <a:buSzTx/>
              <a:buFontTx/>
              <a:buNone/>
              <a:defRPr sz="1200">
                <a:latin typeface="Times Roman"/>
                <a:ea typeface="Times Roman"/>
                <a:cs typeface="Times Roman"/>
                <a:sym typeface="Times Roman"/>
              </a:defRPr>
            </a:pPr>
            <a:r>
              <a:t>Agricultural decision-making depends on accurate soil nutrient analysis. However, laboratory-based soil testing is not scalable or accessible to all farmers. There is limited availability of real-time soil nutrient estimation tools. Therefore, a machine learning-based system capable of predicting NPK values from soil images and recommending suitable crops is required to enable precision agriculture.</a:t>
            </a:r>
          </a:p>
          <a:p>
            <a:pPr marL="0" indent="0" defTabSz="457200">
              <a:lnSpc>
                <a:spcPct val="100000"/>
              </a:lnSpc>
              <a:spcBef>
                <a:spcPts val="1400"/>
              </a:spcBef>
              <a:buSzTx/>
              <a:buFontTx/>
              <a:buNone/>
              <a:defRPr b="1" sz="1400">
                <a:latin typeface="Times Roman"/>
                <a:ea typeface="Times Roman"/>
                <a:cs typeface="Times Roman"/>
                <a:sym typeface="Times Roman"/>
              </a:defRPr>
            </a:pPr>
            <a:r>
              <a:t>Problem Statement</a:t>
            </a:r>
          </a:p>
          <a:p>
            <a:pPr marL="457200" indent="-317500" defTabSz="457200">
              <a:lnSpc>
                <a:spcPct val="100000"/>
              </a:lnSpc>
              <a:spcBef>
                <a:spcPts val="1200"/>
              </a:spcBef>
              <a:buFont typeface="Times Roman"/>
              <a:defRPr sz="1200">
                <a:latin typeface="Times Roman"/>
                <a:ea typeface="Times Roman"/>
                <a:cs typeface="Times Roman"/>
                <a:sym typeface="Times Roman"/>
              </a:defRPr>
            </a:pPr>
            <a:r>
              <a:t>Soil testing is expensive and time-consuming</a:t>
            </a:r>
          </a:p>
          <a:p>
            <a:pPr marL="457200" indent="-317500" defTabSz="457200">
              <a:lnSpc>
                <a:spcPct val="100000"/>
              </a:lnSpc>
              <a:spcBef>
                <a:spcPts val="1200"/>
              </a:spcBef>
              <a:buFont typeface="Times Roman"/>
              <a:defRPr sz="1200">
                <a:latin typeface="Times Roman"/>
                <a:ea typeface="Times Roman"/>
                <a:cs typeface="Times Roman"/>
                <a:sym typeface="Times Roman"/>
              </a:defRPr>
            </a:pPr>
            <a:r>
              <a:t>Many farmers lack access to lab facilities</a:t>
            </a:r>
          </a:p>
          <a:p>
            <a:pPr marL="457200" indent="-317500" defTabSz="457200">
              <a:lnSpc>
                <a:spcPct val="100000"/>
              </a:lnSpc>
              <a:spcBef>
                <a:spcPts val="1200"/>
              </a:spcBef>
              <a:buFont typeface="Times Roman"/>
              <a:defRPr sz="1200">
                <a:latin typeface="Times Roman"/>
                <a:ea typeface="Times Roman"/>
                <a:cs typeface="Times Roman"/>
                <a:sym typeface="Times Roman"/>
              </a:defRPr>
            </a:pPr>
            <a:r>
              <a:t>Incorrect crop selection reduces yield</a:t>
            </a:r>
          </a:p>
          <a:p>
            <a:pPr marL="457200" indent="-317500" defTabSz="457200">
              <a:lnSpc>
                <a:spcPct val="100000"/>
              </a:lnSpc>
              <a:spcBef>
                <a:spcPts val="1200"/>
              </a:spcBef>
              <a:buFont typeface="Times Roman"/>
              <a:defRPr sz="1200">
                <a:latin typeface="Times Roman"/>
                <a:ea typeface="Times Roman"/>
                <a:cs typeface="Times Roman"/>
                <a:sym typeface="Times Roman"/>
              </a:defRPr>
            </a:pPr>
            <a:r>
              <a:t>Overuse of fertilizers damages soil</a:t>
            </a:r>
          </a:p>
          <a:p>
            <a:pPr marL="457200" indent="-317500" defTabSz="457200">
              <a:lnSpc>
                <a:spcPct val="100000"/>
              </a:lnSpc>
              <a:spcBef>
                <a:spcPts val="1200"/>
              </a:spcBef>
              <a:buFont typeface="Times Roman"/>
              <a:defRPr sz="1200">
                <a:latin typeface="Times Roman"/>
                <a:ea typeface="Times Roman"/>
                <a:cs typeface="Times Roman"/>
                <a:sym typeface="Times Roman"/>
              </a:defRPr>
            </a:pPr>
            <a:r>
              <a:t>Need for AI-based soil analysis and crop recommendation system</a:t>
            </a:r>
          </a:p>
          <a:p>
            <a:pPr marL="457200" indent="-317500" defTabSz="457200">
              <a:lnSpc>
                <a:spcPct val="100000"/>
              </a:lnSpc>
              <a:spcBef>
                <a:spcPts val="1200"/>
              </a:spcBef>
              <a:buFont typeface="Times Roman"/>
              <a:defRPr sz="1200">
                <a:latin typeface="Times Roman"/>
                <a:ea typeface="Times Roman"/>
                <a:cs typeface="Times Roman"/>
                <a:sym typeface="Times Roman"/>
              </a:defRPr>
            </a:pPr>
          </a:p>
          <a:p>
            <a:pPr marL="0" indent="0" defTabSz="457200">
              <a:lnSpc>
                <a:spcPct val="100000"/>
              </a:lnSpc>
              <a:spcBef>
                <a:spcPts val="0"/>
              </a:spcBef>
              <a:buSzTx/>
              <a:buFontTx/>
              <a:buNone/>
              <a:defRPr sz="1200">
                <a:latin typeface="Times Roman"/>
                <a:ea typeface="Times Roman"/>
                <a:cs typeface="Times Roman"/>
                <a:sym typeface="Times Roman"/>
              </a:defRPr>
            </a:pPr>
            <a:r>
              <a:rPr b="1"/>
              <a:t>Why Did I Choose This Problem?</a:t>
            </a:r>
            <a:br/>
          </a:p>
          <a:p>
            <a:pPr marL="0" indent="0" defTabSz="457200">
              <a:lnSpc>
                <a:spcPct val="100000"/>
              </a:lnSpc>
              <a:spcBef>
                <a:spcPts val="0"/>
              </a:spcBef>
              <a:buSzTx/>
              <a:buFontTx/>
              <a:buNone/>
              <a:defRPr sz="1200">
                <a:latin typeface="Times Roman"/>
                <a:ea typeface="Times Roman"/>
                <a:cs typeface="Times Roman"/>
                <a:sym typeface="Times Roman"/>
              </a:defRPr>
            </a:pPr>
            <a:r>
              <a:t>Agriculture is the backbone of India’s economy. Many farmers cannot afford frequent laboratory soil testing. By using image processing and machine learning, we aim to provide a faster and low-cost alternative solution.</a:t>
            </a:r>
          </a:p>
        </p:txBody>
      </p:sp>
      <p:sp>
        <p:nvSpPr>
          <p:cNvPr id="49" name="Slide Number Placeholder 2"/>
          <p:cNvSpPr txBox="1"/>
          <p:nvPr>
            <p:ph type="sldNum" sz="quarter" idx="2"/>
          </p:nvPr>
        </p:nvSpPr>
        <p:spPr>
          <a:xfrm>
            <a:off x="11971996" y="6533885"/>
            <a:ext cx="220004" cy="33308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50" name="Title 3"/>
          <p:cNvSpPr txBox="1"/>
          <p:nvPr>
            <p:ph type="title"/>
          </p:nvPr>
        </p:nvSpPr>
        <p:spPr>
          <a:xfrm>
            <a:off x="166485" y="218260"/>
            <a:ext cx="10692015" cy="556113"/>
          </a:xfrm>
          <a:prstGeom prst="rect">
            <a:avLst/>
          </a:prstGeom>
        </p:spPr>
        <p:txBody>
          <a:bodyPr/>
          <a:lstStyle>
            <a:lvl1pPr defTabSz="740663">
              <a:defRPr sz="3159"/>
            </a:lvl1pPr>
          </a:lstStyle>
          <a:p>
            <a:pPr/>
            <a:r>
              <a:t>Problem Statement</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2" name="Content Placeholder 1"/>
          <p:cNvSpPr txBox="1"/>
          <p:nvPr>
            <p:ph type="body" idx="1"/>
          </p:nvPr>
        </p:nvSpPr>
        <p:spPr>
          <a:xfrm>
            <a:off x="166484" y="1105626"/>
            <a:ext cx="11859029" cy="5156628"/>
          </a:xfrm>
          <a:prstGeom prst="rect">
            <a:avLst/>
          </a:prstGeom>
        </p:spPr>
        <p:txBody>
          <a:bodyPr numCol="2" spcCol="592951"/>
          <a:lstStyle/>
          <a:p>
            <a:pPr marL="0" indent="0" defTabSz="457200">
              <a:lnSpc>
                <a:spcPct val="100000"/>
              </a:lnSpc>
              <a:spcBef>
                <a:spcPts val="0"/>
              </a:spcBef>
              <a:buSzTx/>
              <a:buFontTx/>
              <a:buNone/>
              <a:defRPr sz="1200">
                <a:latin typeface="Times Roman"/>
                <a:ea typeface="Times Roman"/>
                <a:cs typeface="Times Roman"/>
                <a:sym typeface="Times Roman"/>
              </a:defRPr>
            </a:pPr>
            <a:r>
              <a:t>The system first extracts color features from soil images. These features are scaled and reduced using PCA. A Random Forest model predicts NPK values. Based on these values and environmental factors, another ML model recommends suitable crops. Fertilizer suggestions are provided by comparing predicted nutrients with ideal crop requirements.</a:t>
            </a:r>
          </a:p>
          <a:p>
            <a:pPr marL="0" indent="0" defTabSz="457200">
              <a:lnSpc>
                <a:spcPct val="100000"/>
              </a:lnSpc>
              <a:spcBef>
                <a:spcPts val="1400"/>
              </a:spcBef>
              <a:buSzTx/>
              <a:buFontTx/>
              <a:buNone/>
              <a:defRPr b="1" sz="1400">
                <a:latin typeface="Times Roman"/>
                <a:ea typeface="Times Roman"/>
                <a:cs typeface="Times Roman"/>
                <a:sym typeface="Times Roman"/>
              </a:defRPr>
            </a:pPr>
          </a:p>
          <a:p>
            <a:pPr marL="0" indent="0" defTabSz="457200">
              <a:lnSpc>
                <a:spcPct val="100000"/>
              </a:lnSpc>
              <a:spcBef>
                <a:spcPts val="1400"/>
              </a:spcBef>
              <a:buSzTx/>
              <a:buFontTx/>
              <a:buNone/>
              <a:defRPr b="1" sz="1400">
                <a:latin typeface="Times Roman"/>
                <a:ea typeface="Times Roman"/>
                <a:cs typeface="Times Roman"/>
                <a:sym typeface="Times Roman"/>
              </a:defRPr>
            </a:pPr>
            <a:r>
              <a:t>Tools &amp; Technologies Used</a:t>
            </a:r>
          </a:p>
          <a:p>
            <a:pPr marL="457200" indent="-317500" defTabSz="457200">
              <a:lnSpc>
                <a:spcPct val="100000"/>
              </a:lnSpc>
              <a:spcBef>
                <a:spcPts val="1200"/>
              </a:spcBef>
              <a:buFont typeface="Times Roman"/>
              <a:defRPr sz="1200">
                <a:latin typeface="Times Roman"/>
                <a:ea typeface="Times Roman"/>
                <a:cs typeface="Times Roman"/>
                <a:sym typeface="Times Roman"/>
              </a:defRPr>
            </a:pPr>
            <a:r>
              <a:t>Python</a:t>
            </a:r>
          </a:p>
          <a:p>
            <a:pPr marL="457200" indent="-317500" defTabSz="457200">
              <a:lnSpc>
                <a:spcPct val="100000"/>
              </a:lnSpc>
              <a:spcBef>
                <a:spcPts val="1200"/>
              </a:spcBef>
              <a:buFont typeface="Times Roman"/>
              <a:defRPr sz="1200">
                <a:latin typeface="Times Roman"/>
                <a:ea typeface="Times Roman"/>
                <a:cs typeface="Times Roman"/>
                <a:sym typeface="Times Roman"/>
              </a:defRPr>
            </a:pPr>
            <a:r>
              <a:t>FastAPI (Backend API framework)</a:t>
            </a:r>
          </a:p>
          <a:p>
            <a:pPr marL="457200" indent="-317500" defTabSz="457200">
              <a:lnSpc>
                <a:spcPct val="100000"/>
              </a:lnSpc>
              <a:spcBef>
                <a:spcPts val="1200"/>
              </a:spcBef>
              <a:buFont typeface="Times Roman"/>
              <a:defRPr sz="1200">
                <a:latin typeface="Times Roman"/>
                <a:ea typeface="Times Roman"/>
                <a:cs typeface="Times Roman"/>
                <a:sym typeface="Times Roman"/>
              </a:defRPr>
            </a:pPr>
            <a:r>
              <a:t>Scikit-learn (Machine Learning)</a:t>
            </a:r>
          </a:p>
          <a:p>
            <a:pPr marL="457200" indent="-317500" defTabSz="457200">
              <a:lnSpc>
                <a:spcPct val="100000"/>
              </a:lnSpc>
              <a:spcBef>
                <a:spcPts val="1200"/>
              </a:spcBef>
              <a:buFont typeface="Times Roman"/>
              <a:defRPr sz="1200">
                <a:latin typeface="Times Roman"/>
                <a:ea typeface="Times Roman"/>
                <a:cs typeface="Times Roman"/>
                <a:sym typeface="Times Roman"/>
              </a:defRPr>
            </a:pPr>
            <a:r>
              <a:t>OpenCV (Image Processing)</a:t>
            </a:r>
          </a:p>
          <a:p>
            <a:pPr marL="457200" indent="-317500" defTabSz="457200">
              <a:lnSpc>
                <a:spcPct val="100000"/>
              </a:lnSpc>
              <a:spcBef>
                <a:spcPts val="1200"/>
              </a:spcBef>
              <a:buFont typeface="Times Roman"/>
              <a:defRPr sz="1200">
                <a:latin typeface="Times Roman"/>
                <a:ea typeface="Times Roman"/>
                <a:cs typeface="Times Roman"/>
                <a:sym typeface="Times Roman"/>
              </a:defRPr>
            </a:pPr>
            <a:r>
              <a:t>Pandas &amp; NumPy (Data Handling)</a:t>
            </a:r>
          </a:p>
          <a:p>
            <a:pPr marL="457200" indent="-317500" defTabSz="457200">
              <a:lnSpc>
                <a:spcPct val="100000"/>
              </a:lnSpc>
              <a:spcBef>
                <a:spcPts val="1200"/>
              </a:spcBef>
              <a:buFont typeface="Times Roman"/>
              <a:defRPr sz="1200">
                <a:latin typeface="Times Roman"/>
                <a:ea typeface="Times Roman"/>
                <a:cs typeface="Times Roman"/>
                <a:sym typeface="Times Roman"/>
              </a:defRPr>
            </a:pPr>
            <a:r>
              <a:t>HTML, CSS, ReactJS (Frontend)</a:t>
            </a:r>
          </a:p>
          <a:p>
            <a:pPr marL="0" indent="0" defTabSz="457200">
              <a:lnSpc>
                <a:spcPct val="100000"/>
              </a:lnSpc>
              <a:spcBef>
                <a:spcPts val="1400"/>
              </a:spcBef>
              <a:buSzTx/>
              <a:buFontTx/>
              <a:buNone/>
              <a:defRPr b="1" sz="1800">
                <a:latin typeface="Times Roman"/>
                <a:ea typeface="Times Roman"/>
                <a:cs typeface="Times Roman"/>
                <a:sym typeface="Times Roman"/>
              </a:defRPr>
            </a:pPr>
            <a:r>
              <a:t>Datasets Used</a:t>
            </a:r>
          </a:p>
          <a:p>
            <a:pPr marL="0" indent="0" defTabSz="457200">
              <a:lnSpc>
                <a:spcPct val="100000"/>
              </a:lnSpc>
              <a:spcBef>
                <a:spcPts val="0"/>
              </a:spcBef>
              <a:buSzTx/>
              <a:buFontTx/>
              <a:buNone/>
              <a:defRPr sz="1200">
                <a:latin typeface="Times Roman"/>
                <a:ea typeface="Times Roman"/>
                <a:cs typeface="Times Roman"/>
                <a:sym typeface="Times Roman"/>
              </a:defRPr>
            </a:pPr>
            <a:r>
              <a:t>Soil Dataset (soil_dataset.csv)</a:t>
            </a:r>
          </a:p>
          <a:p>
            <a:pPr marL="0" indent="0" defTabSz="457200">
              <a:lnSpc>
                <a:spcPct val="100000"/>
              </a:lnSpc>
              <a:spcBef>
                <a:spcPts val="0"/>
              </a:spcBef>
              <a:buSzTx/>
              <a:buFontTx/>
              <a:buNone/>
              <a:defRPr sz="1200">
                <a:latin typeface="Times Roman"/>
                <a:ea typeface="Times Roman"/>
                <a:cs typeface="Times Roman"/>
                <a:sym typeface="Times Roman"/>
              </a:defRPr>
            </a:pPr>
            <a:r>
              <a:t>Crop Recommendation Dataset (Crop_recommendation.csv)</a:t>
            </a:r>
          </a:p>
          <a:p>
            <a:pPr marL="0" indent="0" defTabSz="457200">
              <a:lnSpc>
                <a:spcPct val="100000"/>
              </a:lnSpc>
              <a:spcBef>
                <a:spcPts val="0"/>
              </a:spcBef>
              <a:buSzTx/>
              <a:buFontTx/>
              <a:buNone/>
              <a:defRPr sz="1200">
                <a:latin typeface="Times Roman"/>
                <a:ea typeface="Times Roman"/>
                <a:cs typeface="Times Roman"/>
                <a:sym typeface="Times Roman"/>
              </a:defRPr>
            </a:pPr>
            <a:r>
              <a:t>Fertilizer Dataset (fertilizer.csv)</a:t>
            </a:r>
          </a:p>
          <a:p>
            <a:pPr marL="0" indent="0" defTabSz="457200">
              <a:lnSpc>
                <a:spcPct val="100000"/>
              </a:lnSpc>
              <a:spcBef>
                <a:spcPts val="0"/>
              </a:spcBef>
              <a:buSzTx/>
              <a:buFontTx/>
              <a:buNone/>
              <a:defRPr sz="1200">
                <a:latin typeface="Times Roman"/>
                <a:ea typeface="Times Roman"/>
                <a:cs typeface="Times Roman"/>
                <a:sym typeface="Times Roman"/>
              </a:defRPr>
            </a:pPr>
          </a:p>
          <a:p>
            <a:pPr marL="0" indent="0" defTabSz="457200">
              <a:lnSpc>
                <a:spcPct val="100000"/>
              </a:lnSpc>
              <a:spcBef>
                <a:spcPts val="0"/>
              </a:spcBef>
              <a:buSzTx/>
              <a:buFontTx/>
              <a:buNone/>
              <a:defRPr sz="1200">
                <a:latin typeface="Times Roman"/>
                <a:ea typeface="Times Roman"/>
                <a:cs typeface="Times Roman"/>
                <a:sym typeface="Times Roman"/>
              </a:defRPr>
            </a:pPr>
          </a:p>
          <a:p>
            <a:pPr marL="0" indent="0" defTabSz="457200">
              <a:lnSpc>
                <a:spcPct val="100000"/>
              </a:lnSpc>
              <a:spcBef>
                <a:spcPts val="0"/>
              </a:spcBef>
              <a:buSzTx/>
              <a:buFontTx/>
              <a:buNone/>
              <a:defRPr sz="1200">
                <a:latin typeface="Times Roman"/>
                <a:ea typeface="Times Roman"/>
                <a:cs typeface="Times Roman"/>
                <a:sym typeface="Times Roman"/>
              </a:defRPr>
            </a:pPr>
          </a:p>
          <a:p>
            <a:pPr marL="0" indent="0" defTabSz="457200">
              <a:lnSpc>
                <a:spcPct val="100000"/>
              </a:lnSpc>
              <a:spcBef>
                <a:spcPts val="0"/>
              </a:spcBef>
              <a:buSzTx/>
              <a:buFontTx/>
              <a:buNone/>
              <a:defRPr b="1" sz="1200">
                <a:latin typeface="Times Roman"/>
                <a:ea typeface="Times Roman"/>
                <a:cs typeface="Times Roman"/>
                <a:sym typeface="Times Roman"/>
              </a:defRPr>
            </a:pPr>
            <a:r>
              <a:t>Methodology Flow</a:t>
            </a:r>
          </a:p>
          <a:p>
            <a:pPr marL="0" indent="0" defTabSz="457200">
              <a:lnSpc>
                <a:spcPct val="100000"/>
              </a:lnSpc>
              <a:spcBef>
                <a:spcPts val="0"/>
              </a:spcBef>
              <a:buSzTx/>
              <a:buFontTx/>
              <a:buNone/>
              <a:defRPr sz="1200">
                <a:latin typeface="Times Roman"/>
                <a:ea typeface="Times Roman"/>
                <a:cs typeface="Times Roman"/>
                <a:sym typeface="Times Roman"/>
              </a:defRPr>
            </a:pPr>
          </a:p>
          <a:p>
            <a:pPr marL="0" indent="0" defTabSz="457200">
              <a:lnSpc>
                <a:spcPct val="100000"/>
              </a:lnSpc>
              <a:spcBef>
                <a:spcPts val="1200"/>
              </a:spcBef>
              <a:buSzTx/>
              <a:buFontTx/>
              <a:buNone/>
              <a:defRPr sz="1200">
                <a:latin typeface="Times Roman"/>
                <a:ea typeface="Times Roman"/>
                <a:cs typeface="Times Roman"/>
                <a:sym typeface="Times Roman"/>
              </a:defRPr>
            </a:pPr>
            <a:r>
              <a:t>Soil Image</a:t>
            </a:r>
            <a:br/>
            <a:r>
              <a:t>↓</a:t>
            </a:r>
            <a:br/>
            <a:r>
              <a:t>Feature Extraction (RGB + HSV)</a:t>
            </a:r>
            <a:br/>
            <a:r>
              <a:t>↓</a:t>
            </a:r>
            <a:br/>
            <a:r>
              <a:t>Scaling</a:t>
            </a:r>
            <a:br/>
            <a:r>
              <a:t>↓</a:t>
            </a:r>
            <a:br/>
            <a:r>
              <a:t>PCA</a:t>
            </a:r>
            <a:br/>
            <a:r>
              <a:t>↓</a:t>
            </a:r>
            <a:br/>
            <a:r>
              <a:t>NPK Prediction Model</a:t>
            </a:r>
            <a:br/>
            <a:r>
              <a:t>↓</a:t>
            </a:r>
            <a:br/>
            <a:r>
              <a:t>Crop Recommendation Model</a:t>
            </a:r>
            <a:br/>
            <a:r>
              <a:t>↓</a:t>
            </a:r>
            <a:br/>
            <a:r>
              <a:t>Fertilizer Suggestion</a:t>
            </a:r>
          </a:p>
          <a:p>
            <a:pPr marL="0" indent="0" defTabSz="457200">
              <a:lnSpc>
                <a:spcPct val="100000"/>
              </a:lnSpc>
              <a:spcBef>
                <a:spcPts val="1200"/>
              </a:spcBef>
              <a:buSzTx/>
              <a:buFontTx/>
              <a:buNone/>
              <a:defRPr sz="1200">
                <a:latin typeface="Times Roman"/>
                <a:ea typeface="Times Roman"/>
                <a:cs typeface="Times Roman"/>
                <a:sym typeface="Times Roman"/>
              </a:defRPr>
            </a:pPr>
            <a:r>
              <a:t>↓</a:t>
            </a:r>
          </a:p>
          <a:p>
            <a:pPr marL="0" indent="0" defTabSz="457200">
              <a:lnSpc>
                <a:spcPct val="100000"/>
              </a:lnSpc>
              <a:spcBef>
                <a:spcPts val="1200"/>
              </a:spcBef>
              <a:buSzTx/>
              <a:buFontTx/>
              <a:buNone/>
              <a:defRPr sz="1200">
                <a:latin typeface="Times Roman"/>
                <a:ea typeface="Times Roman"/>
                <a:cs typeface="Times Roman"/>
                <a:sym typeface="Times Roman"/>
              </a:defRPr>
            </a:pPr>
            <a:r>
              <a:t>DL transformer (Ollama Model with deepseak-llm)</a:t>
            </a:r>
          </a:p>
        </p:txBody>
      </p:sp>
      <p:sp>
        <p:nvSpPr>
          <p:cNvPr id="53" name="Title 2"/>
          <p:cNvSpPr txBox="1"/>
          <p:nvPr>
            <p:ph type="title"/>
          </p:nvPr>
        </p:nvSpPr>
        <p:spPr>
          <a:xfrm>
            <a:off x="166485" y="218260"/>
            <a:ext cx="10692015" cy="556113"/>
          </a:xfrm>
          <a:prstGeom prst="rect">
            <a:avLst/>
          </a:prstGeom>
        </p:spPr>
        <p:txBody>
          <a:bodyPr/>
          <a:lstStyle>
            <a:lvl1pPr defTabSz="740663">
              <a:defRPr sz="3159"/>
            </a:lvl1pPr>
          </a:lstStyle>
          <a:p>
            <a:pPr/>
            <a:r>
              <a:t>Methodology, Datasets, and Tools used</a:t>
            </a:r>
          </a:p>
        </p:txBody>
      </p:sp>
      <p:sp>
        <p:nvSpPr>
          <p:cNvPr id="54" name="Slide Number Placeholder 3"/>
          <p:cNvSpPr txBox="1"/>
          <p:nvPr>
            <p:ph type="sldNum" sz="quarter" idx="2"/>
          </p:nvPr>
        </p:nvSpPr>
        <p:spPr>
          <a:xfrm>
            <a:off x="11971996" y="6533885"/>
            <a:ext cx="220004" cy="33308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6" name="Content Placeholder 1"/>
          <p:cNvSpPr txBox="1"/>
          <p:nvPr>
            <p:ph type="body" idx="1"/>
          </p:nvPr>
        </p:nvSpPr>
        <p:spPr>
          <a:xfrm>
            <a:off x="166484" y="1105626"/>
            <a:ext cx="11859029" cy="5156628"/>
          </a:xfrm>
          <a:prstGeom prst="rect">
            <a:avLst/>
          </a:prstGeom>
        </p:spPr>
        <p:txBody>
          <a:bodyPr/>
          <a:lstStyle/>
          <a:p>
            <a:pPr marL="0" indent="0" defTabSz="457200">
              <a:lnSpc>
                <a:spcPct val="100000"/>
              </a:lnSpc>
              <a:spcBef>
                <a:spcPts val="0"/>
              </a:spcBef>
              <a:buSzTx/>
              <a:buFontTx/>
              <a:buNone/>
              <a:defRPr b="1" sz="1200">
                <a:latin typeface="Times Roman"/>
                <a:ea typeface="Times Roman"/>
                <a:cs typeface="Times Roman"/>
                <a:sym typeface="Times Roman"/>
              </a:defRPr>
            </a:pPr>
            <a:r>
              <a:t>NPK Prediction Results</a:t>
            </a:r>
          </a:p>
          <a:p>
            <a:pPr marL="0" indent="0" defTabSz="457200">
              <a:lnSpc>
                <a:spcPct val="100000"/>
              </a:lnSpc>
              <a:spcBef>
                <a:spcPts val="0"/>
              </a:spcBef>
              <a:buSzTx/>
              <a:buFontTx/>
              <a:buNone/>
              <a:defRPr sz="1200">
                <a:latin typeface="Times Roman"/>
                <a:ea typeface="Times Roman"/>
                <a:cs typeface="Times Roman"/>
                <a:sym typeface="Times Roman"/>
              </a:defRPr>
            </a:pPr>
          </a:p>
          <a:p>
            <a:pPr marL="120315" indent="-120315" defTabSz="457200">
              <a:lnSpc>
                <a:spcPct val="100000"/>
              </a:lnSpc>
              <a:spcBef>
                <a:spcPts val="1200"/>
              </a:spcBef>
              <a:buFontTx/>
              <a:defRPr sz="1200">
                <a:latin typeface="Times Roman"/>
                <a:ea typeface="Times Roman"/>
                <a:cs typeface="Times Roman"/>
                <a:sym typeface="Times Roman"/>
              </a:defRPr>
            </a:pPr>
            <a:r>
              <a:t>Upload Sample soil image</a:t>
            </a:r>
          </a:p>
          <a:p>
            <a:pPr marL="120315" indent="-120315" defTabSz="457200">
              <a:lnSpc>
                <a:spcPct val="100000"/>
              </a:lnSpc>
              <a:spcBef>
                <a:spcPts val="1200"/>
              </a:spcBef>
              <a:buFontTx/>
              <a:defRPr sz="1200">
                <a:latin typeface="Times Roman"/>
                <a:ea typeface="Times Roman"/>
                <a:cs typeface="Times Roman"/>
                <a:sym typeface="Times Roman"/>
              </a:defRPr>
            </a:pPr>
            <a:r>
              <a:t>Predicted NPK values</a:t>
            </a:r>
          </a:p>
          <a:p>
            <a:pPr marL="0" indent="0" defTabSz="457200">
              <a:lnSpc>
                <a:spcPct val="100000"/>
              </a:lnSpc>
              <a:spcBef>
                <a:spcPts val="1200"/>
              </a:spcBef>
              <a:buSzTx/>
              <a:buFontTx/>
              <a:buNone/>
              <a:defRPr sz="1200">
                <a:latin typeface="Times Roman"/>
                <a:ea typeface="Times Roman"/>
                <a:cs typeface="Times Roman"/>
                <a:sym typeface="Times Roman"/>
              </a:defRPr>
            </a:pPr>
          </a:p>
        </p:txBody>
      </p:sp>
      <p:sp>
        <p:nvSpPr>
          <p:cNvPr id="57" name="Title 2"/>
          <p:cNvSpPr txBox="1"/>
          <p:nvPr>
            <p:ph type="title"/>
          </p:nvPr>
        </p:nvSpPr>
        <p:spPr>
          <a:xfrm>
            <a:off x="166485" y="218260"/>
            <a:ext cx="10692015" cy="556113"/>
          </a:xfrm>
          <a:prstGeom prst="rect">
            <a:avLst/>
          </a:prstGeom>
        </p:spPr>
        <p:txBody>
          <a:bodyPr/>
          <a:lstStyle>
            <a:lvl1pPr defTabSz="740663">
              <a:defRPr sz="3159"/>
            </a:lvl1pPr>
          </a:lstStyle>
          <a:p>
            <a:pPr/>
            <a:r>
              <a:t>Results 1</a:t>
            </a:r>
          </a:p>
        </p:txBody>
      </p:sp>
      <p:sp>
        <p:nvSpPr>
          <p:cNvPr id="58" name="Slide Number Placeholder 3"/>
          <p:cNvSpPr txBox="1"/>
          <p:nvPr>
            <p:ph type="sldNum" sz="quarter" idx="2"/>
          </p:nvPr>
        </p:nvSpPr>
        <p:spPr>
          <a:xfrm>
            <a:off x="11971996" y="6533885"/>
            <a:ext cx="220004" cy="33308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pSp>
        <p:nvGrpSpPr>
          <p:cNvPr id="61" name="Image Gallery"/>
          <p:cNvGrpSpPr/>
          <p:nvPr/>
        </p:nvGrpSpPr>
        <p:grpSpPr>
          <a:xfrm>
            <a:off x="3835176" y="2540000"/>
            <a:ext cx="4521648" cy="4131791"/>
            <a:chOff x="0" y="0"/>
            <a:chExt cx="4521646" cy="4131790"/>
          </a:xfrm>
        </p:grpSpPr>
        <p:pic>
          <p:nvPicPr>
            <p:cNvPr id="59" name="pasted-movie.png" descr="pasted-movie.png"/>
            <p:cNvPicPr>
              <a:picLocks noChangeAspect="1"/>
            </p:cNvPicPr>
            <p:nvPr/>
          </p:nvPicPr>
          <p:blipFill>
            <a:blip r:embed="rId2">
              <a:extLst/>
            </a:blip>
            <a:srcRect l="4603" t="0" r="4603" b="0"/>
            <a:stretch>
              <a:fillRect/>
            </a:stretch>
          </p:blipFill>
          <p:spPr>
            <a:xfrm>
              <a:off x="0" y="0"/>
              <a:ext cx="4521647" cy="3661543"/>
            </a:xfrm>
            <a:prstGeom prst="rect">
              <a:avLst/>
            </a:prstGeom>
            <a:ln w="12700" cap="flat">
              <a:noFill/>
              <a:miter lim="400000"/>
            </a:ln>
            <a:effectLst/>
          </p:spPr>
        </p:pic>
        <p:sp>
          <p:nvSpPr>
            <p:cNvPr id="60" name="Rectangle"/>
            <p:cNvSpPr/>
            <p:nvPr/>
          </p:nvSpPr>
          <p:spPr>
            <a:xfrm>
              <a:off x="0" y="3737742"/>
              <a:ext cx="4521647" cy="39404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t">
              <a:noAutofit/>
            </a:bodyPr>
            <a:lstStyle/>
            <a:p>
              <a:pPr/>
              <a:r>
                <a:t> </a:t>
              </a:r>
            </a:p>
          </p:txBody>
        </p:sp>
      </p:gr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3" name="Content Placeholder 1"/>
          <p:cNvSpPr txBox="1"/>
          <p:nvPr>
            <p:ph type="body" idx="1"/>
          </p:nvPr>
        </p:nvSpPr>
        <p:spPr>
          <a:xfrm>
            <a:off x="166484" y="1105626"/>
            <a:ext cx="11859029" cy="5156628"/>
          </a:xfrm>
          <a:prstGeom prst="rect">
            <a:avLst/>
          </a:prstGeom>
        </p:spPr>
        <p:txBody>
          <a:bodyPr numCol="2" spcCol="592951"/>
          <a:lstStyle/>
          <a:p>
            <a:pPr marL="0" indent="0" defTabSz="457200">
              <a:lnSpc>
                <a:spcPct val="100000"/>
              </a:lnSpc>
              <a:spcBef>
                <a:spcPts val="0"/>
              </a:spcBef>
              <a:buSzTx/>
              <a:buFontTx/>
              <a:buNone/>
              <a:defRPr b="1" sz="1200">
                <a:latin typeface="Times Roman"/>
                <a:ea typeface="Times Roman"/>
                <a:cs typeface="Times Roman"/>
                <a:sym typeface="Times Roman"/>
              </a:defRPr>
            </a:pPr>
            <a:r>
              <a:t>Crop Recommendation Output</a:t>
            </a:r>
          </a:p>
          <a:p>
            <a:pPr marL="0" indent="0" defTabSz="457200">
              <a:lnSpc>
                <a:spcPct val="100000"/>
              </a:lnSpc>
              <a:spcBef>
                <a:spcPts val="0"/>
              </a:spcBef>
              <a:buSzTx/>
              <a:buFontTx/>
              <a:buNone/>
              <a:defRPr sz="1200">
                <a:latin typeface="Times Roman"/>
                <a:ea typeface="Times Roman"/>
                <a:cs typeface="Times Roman"/>
                <a:sym typeface="Times Roman"/>
              </a:defRPr>
            </a:pPr>
          </a:p>
          <a:p>
            <a:pPr marL="0" indent="0" defTabSz="457200">
              <a:lnSpc>
                <a:spcPct val="100000"/>
              </a:lnSpc>
              <a:spcBef>
                <a:spcPts val="1200"/>
              </a:spcBef>
              <a:buSzTx/>
              <a:buFontTx/>
              <a:buNone/>
              <a:defRPr sz="1200">
                <a:latin typeface="Times Roman"/>
                <a:ea typeface="Times Roman"/>
                <a:cs typeface="Times Roman"/>
                <a:sym typeface="Times Roman"/>
              </a:defRPr>
            </a:pPr>
            <a:r>
              <a:t>Example output:</a:t>
            </a:r>
          </a:p>
          <a:p>
            <a:pPr marL="0" indent="0" defTabSz="457200">
              <a:lnSpc>
                <a:spcPct val="100000"/>
              </a:lnSpc>
              <a:spcBef>
                <a:spcPts val="1200"/>
              </a:spcBef>
              <a:buSzTx/>
              <a:buFontTx/>
              <a:buNone/>
              <a:defRPr sz="1200">
                <a:latin typeface="Times Roman"/>
                <a:ea typeface="Times Roman"/>
                <a:cs typeface="Times Roman"/>
                <a:sym typeface="Times Roman"/>
              </a:defRPr>
            </a:pPr>
            <a:r>
              <a:t>Recommended Crop: Rice</a:t>
            </a:r>
            <a:br/>
            <a:r>
              <a:t>Confidence: 92.5%</a:t>
            </a:r>
          </a:p>
          <a:p>
            <a:pPr marL="0" indent="0" defTabSz="457200">
              <a:lnSpc>
                <a:spcPct val="100000"/>
              </a:lnSpc>
              <a:spcBef>
                <a:spcPts val="1200"/>
              </a:spcBef>
              <a:buSzTx/>
              <a:buFontTx/>
              <a:buNone/>
              <a:defRPr sz="1200">
                <a:latin typeface="Times Roman"/>
                <a:ea typeface="Times Roman"/>
                <a:cs typeface="Times Roman"/>
                <a:sym typeface="Times Roman"/>
              </a:defRPr>
            </a:pPr>
            <a:r>
              <a:t>Explain:</a:t>
            </a:r>
          </a:p>
          <a:p>
            <a:pPr marL="457200" indent="-317500" defTabSz="457200">
              <a:lnSpc>
                <a:spcPct val="100000"/>
              </a:lnSpc>
              <a:spcBef>
                <a:spcPts val="1200"/>
              </a:spcBef>
              <a:buFont typeface="Times Roman"/>
              <a:defRPr sz="1200">
                <a:latin typeface="Times Roman"/>
                <a:ea typeface="Times Roman"/>
                <a:cs typeface="Times Roman"/>
                <a:sym typeface="Times Roman"/>
              </a:defRPr>
            </a:pPr>
            <a:r>
              <a:t>Based on predicted NPK</a:t>
            </a:r>
          </a:p>
          <a:p>
            <a:pPr marL="457200" indent="-317500" defTabSz="457200">
              <a:lnSpc>
                <a:spcPct val="100000"/>
              </a:lnSpc>
              <a:spcBef>
                <a:spcPts val="1200"/>
              </a:spcBef>
              <a:buFont typeface="Times Roman"/>
              <a:defRPr sz="1200">
                <a:latin typeface="Times Roman"/>
                <a:ea typeface="Times Roman"/>
                <a:cs typeface="Times Roman"/>
                <a:sym typeface="Times Roman"/>
              </a:defRPr>
            </a:pPr>
            <a:r>
              <a:t>Based on soil pH</a:t>
            </a:r>
          </a:p>
          <a:p>
            <a:pPr marL="457200" indent="-317500" defTabSz="457200">
              <a:lnSpc>
                <a:spcPct val="100000"/>
              </a:lnSpc>
              <a:spcBef>
                <a:spcPts val="1200"/>
              </a:spcBef>
              <a:buFont typeface="Times Roman"/>
              <a:defRPr sz="1200">
                <a:latin typeface="Times Roman"/>
                <a:ea typeface="Times Roman"/>
                <a:cs typeface="Times Roman"/>
                <a:sym typeface="Times Roman"/>
              </a:defRPr>
            </a:pPr>
            <a:r>
              <a:t>Based on temperature &amp; rainfall</a:t>
            </a:r>
          </a:p>
          <a:p>
            <a:pPr marL="0" indent="0" defTabSz="457200">
              <a:lnSpc>
                <a:spcPct val="100000"/>
              </a:lnSpc>
              <a:spcBef>
                <a:spcPts val="1400"/>
              </a:spcBef>
              <a:buSzTx/>
              <a:buFontTx/>
              <a:buNone/>
              <a:defRPr b="1" sz="1200">
                <a:latin typeface="Times Roman"/>
                <a:ea typeface="Times Roman"/>
                <a:cs typeface="Times Roman"/>
                <a:sym typeface="Times Roman"/>
              </a:defRPr>
            </a:pPr>
          </a:p>
          <a:p>
            <a:pPr marL="0" indent="0" defTabSz="457200">
              <a:lnSpc>
                <a:spcPct val="100000"/>
              </a:lnSpc>
              <a:spcBef>
                <a:spcPts val="1400"/>
              </a:spcBef>
              <a:buSzTx/>
              <a:buFontTx/>
              <a:buNone/>
              <a:defRPr b="1" sz="1200">
                <a:latin typeface="Times Roman"/>
                <a:ea typeface="Times Roman"/>
                <a:cs typeface="Times Roman"/>
                <a:sym typeface="Times Roman"/>
              </a:defRPr>
            </a:pPr>
            <a:r>
              <a:t>Fertilizer Recommendation</a:t>
            </a:r>
          </a:p>
          <a:p>
            <a:pPr marL="0" indent="0" defTabSz="457200">
              <a:lnSpc>
                <a:spcPct val="100000"/>
              </a:lnSpc>
              <a:spcBef>
                <a:spcPts val="1200"/>
              </a:spcBef>
              <a:buSzTx/>
              <a:buFontTx/>
              <a:buNone/>
              <a:defRPr sz="1200">
                <a:latin typeface="Times Roman"/>
                <a:ea typeface="Times Roman"/>
                <a:cs typeface="Times Roman"/>
                <a:sym typeface="Times Roman"/>
              </a:defRPr>
            </a:pPr>
            <a:r>
              <a:rPr b="1"/>
              <a:t>Example</a:t>
            </a:r>
            <a:r>
              <a:t>:</a:t>
            </a:r>
          </a:p>
          <a:p>
            <a:pPr marL="0" indent="0" defTabSz="457200">
              <a:lnSpc>
                <a:spcPct val="100000"/>
              </a:lnSpc>
              <a:spcBef>
                <a:spcPts val="1200"/>
              </a:spcBef>
              <a:buSzTx/>
              <a:buFontTx/>
              <a:buNone/>
              <a:defRPr sz="1200">
                <a:latin typeface="Times Roman"/>
                <a:ea typeface="Times Roman"/>
                <a:cs typeface="Times Roman"/>
                <a:sym typeface="Times Roman"/>
              </a:defRPr>
            </a:pPr>
            <a:r>
              <a:t>Nitrogen Deficient</a:t>
            </a:r>
            <a:br/>
            <a:r>
              <a:t>Recommended Fertilizer: Urea</a:t>
            </a:r>
          </a:p>
          <a:p>
            <a:pPr marL="0" indent="0" defTabSz="457200">
              <a:lnSpc>
                <a:spcPct val="100000"/>
              </a:lnSpc>
              <a:spcBef>
                <a:spcPts val="1200"/>
              </a:spcBef>
              <a:buSzTx/>
              <a:buFontTx/>
              <a:buNone/>
              <a:defRPr sz="1200">
                <a:latin typeface="Times Roman"/>
                <a:ea typeface="Times Roman"/>
                <a:cs typeface="Times Roman"/>
                <a:sym typeface="Times Roman"/>
              </a:defRPr>
            </a:pPr>
          </a:p>
          <a:p>
            <a:pPr marL="0" indent="0" defTabSz="457200">
              <a:lnSpc>
                <a:spcPct val="100000"/>
              </a:lnSpc>
              <a:spcBef>
                <a:spcPts val="1200"/>
              </a:spcBef>
              <a:buSzTx/>
              <a:buFontTx/>
              <a:buNone/>
              <a:defRPr sz="1200">
                <a:latin typeface="Times Roman"/>
                <a:ea typeface="Times Roman"/>
                <a:cs typeface="Times Roman"/>
                <a:sym typeface="Times Roman"/>
              </a:defRPr>
            </a:pPr>
          </a:p>
          <a:p>
            <a:pPr marL="0" indent="0" defTabSz="457200">
              <a:lnSpc>
                <a:spcPct val="100000"/>
              </a:lnSpc>
              <a:spcBef>
                <a:spcPts val="1200"/>
              </a:spcBef>
              <a:buSzTx/>
              <a:buFontTx/>
              <a:buNone/>
              <a:defRPr sz="1200">
                <a:latin typeface="Times Roman"/>
                <a:ea typeface="Times Roman"/>
                <a:cs typeface="Times Roman"/>
                <a:sym typeface="Times Roman"/>
              </a:defRPr>
            </a:pPr>
          </a:p>
          <a:p>
            <a:pPr marL="0" indent="0" defTabSz="457200">
              <a:lnSpc>
                <a:spcPct val="100000"/>
              </a:lnSpc>
              <a:spcBef>
                <a:spcPts val="1200"/>
              </a:spcBef>
              <a:buSzTx/>
              <a:buFontTx/>
              <a:buNone/>
              <a:defRPr sz="1200">
                <a:latin typeface="Times Roman"/>
                <a:ea typeface="Times Roman"/>
                <a:cs typeface="Times Roman"/>
                <a:sym typeface="Times Roman"/>
              </a:defRPr>
            </a:pPr>
          </a:p>
          <a:p>
            <a:pPr marL="0" indent="0" defTabSz="457200">
              <a:lnSpc>
                <a:spcPct val="100000"/>
              </a:lnSpc>
              <a:spcBef>
                <a:spcPts val="1200"/>
              </a:spcBef>
              <a:buSzTx/>
              <a:buFontTx/>
              <a:buNone/>
              <a:defRPr sz="1200">
                <a:latin typeface="Times Roman"/>
                <a:ea typeface="Times Roman"/>
                <a:cs typeface="Times Roman"/>
                <a:sym typeface="Times Roman"/>
              </a:defRPr>
            </a:pPr>
          </a:p>
          <a:p>
            <a:pPr marL="0" indent="0" defTabSz="457200">
              <a:lnSpc>
                <a:spcPct val="100000"/>
              </a:lnSpc>
              <a:spcBef>
                <a:spcPts val="1200"/>
              </a:spcBef>
              <a:buSzTx/>
              <a:buFontTx/>
              <a:buNone/>
              <a:defRPr sz="1200">
                <a:latin typeface="Times Roman"/>
                <a:ea typeface="Times Roman"/>
                <a:cs typeface="Times Roman"/>
                <a:sym typeface="Times Roman"/>
              </a:defRPr>
            </a:pPr>
          </a:p>
          <a:p>
            <a:pPr marL="0" indent="0" defTabSz="457200">
              <a:lnSpc>
                <a:spcPct val="100000"/>
              </a:lnSpc>
              <a:spcBef>
                <a:spcPts val="1200"/>
              </a:spcBef>
              <a:buSzTx/>
              <a:buFontTx/>
              <a:buNone/>
              <a:defRPr sz="1200">
                <a:latin typeface="Times Roman"/>
                <a:ea typeface="Times Roman"/>
                <a:cs typeface="Times Roman"/>
                <a:sym typeface="Times Roman"/>
              </a:defRPr>
            </a:pPr>
          </a:p>
        </p:txBody>
      </p:sp>
      <p:pic>
        <p:nvPicPr>
          <p:cNvPr id="64" name="pasted-movie.png" descr="pasted-movie.png"/>
          <p:cNvPicPr>
            <a:picLocks noChangeAspect="1"/>
          </p:cNvPicPr>
          <p:nvPr/>
        </p:nvPicPr>
        <p:blipFill>
          <a:blip r:embed="rId2">
            <a:extLst/>
          </a:blip>
          <a:stretch>
            <a:fillRect/>
          </a:stretch>
        </p:blipFill>
        <p:spPr>
          <a:xfrm>
            <a:off x="166484" y="1105626"/>
            <a:ext cx="5589478" cy="1737352"/>
          </a:xfrm>
          <a:prstGeom prst="rect">
            <a:avLst/>
          </a:prstGeom>
          <a:ln w="12700">
            <a:miter lim="400000"/>
          </a:ln>
        </p:spPr>
      </p:pic>
      <p:sp>
        <p:nvSpPr>
          <p:cNvPr id="65" name="Title 2"/>
          <p:cNvSpPr txBox="1"/>
          <p:nvPr>
            <p:ph type="title"/>
          </p:nvPr>
        </p:nvSpPr>
        <p:spPr>
          <a:xfrm>
            <a:off x="166485" y="218260"/>
            <a:ext cx="10692015" cy="556113"/>
          </a:xfrm>
          <a:prstGeom prst="rect">
            <a:avLst/>
          </a:prstGeom>
        </p:spPr>
        <p:txBody>
          <a:bodyPr/>
          <a:lstStyle>
            <a:lvl1pPr defTabSz="740663">
              <a:defRPr sz="3159"/>
            </a:lvl1pPr>
          </a:lstStyle>
          <a:p>
            <a:pPr/>
            <a:r>
              <a:t>Results 2</a:t>
            </a:r>
          </a:p>
        </p:txBody>
      </p:sp>
      <p:sp>
        <p:nvSpPr>
          <p:cNvPr id="66" name="Slide Number Placeholder 3"/>
          <p:cNvSpPr txBox="1"/>
          <p:nvPr>
            <p:ph type="sldNum" sz="quarter" idx="2"/>
          </p:nvPr>
        </p:nvSpPr>
        <p:spPr>
          <a:xfrm>
            <a:off x="11971996" y="6533885"/>
            <a:ext cx="220004" cy="33308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8" name="Content Placeholder 1"/>
          <p:cNvSpPr txBox="1"/>
          <p:nvPr>
            <p:ph type="body" idx="1"/>
          </p:nvPr>
        </p:nvSpPr>
        <p:spPr>
          <a:xfrm>
            <a:off x="166484" y="1105626"/>
            <a:ext cx="11859029" cy="5156628"/>
          </a:xfrm>
          <a:prstGeom prst="rect">
            <a:avLst/>
          </a:prstGeom>
        </p:spPr>
        <p:txBody>
          <a:bodyPr/>
          <a:lstStyle/>
          <a:p>
            <a:pPr marL="0" indent="0" defTabSz="457200">
              <a:lnSpc>
                <a:spcPct val="100000"/>
              </a:lnSpc>
              <a:spcBef>
                <a:spcPts val="0"/>
              </a:spcBef>
              <a:buSzTx/>
              <a:buFontTx/>
              <a:buNone/>
              <a:defRPr sz="1400">
                <a:latin typeface="Times Roman"/>
                <a:ea typeface="Times Roman"/>
                <a:cs typeface="Times Roman"/>
                <a:sym typeface="Times Roman"/>
              </a:defRPr>
            </a:pPr>
            <a:r>
              <a:t>The proposed system successfully predicts soil nutrient values from images and recommends suitable crops using machine learning techniques. The integration of PCA, Random Forest models, and FastAPI ensures efficient and real-time prediction. The system demonstrates the potential of AI-driven precision agriculture solutions.</a:t>
            </a:r>
          </a:p>
          <a:p>
            <a:pPr marL="0" indent="0" defTabSz="457200">
              <a:lnSpc>
                <a:spcPct val="100000"/>
              </a:lnSpc>
              <a:spcBef>
                <a:spcPts val="0"/>
              </a:spcBef>
              <a:buSzTx/>
              <a:buFontTx/>
              <a:buNone/>
              <a:defRPr sz="1400">
                <a:latin typeface="Times Roman"/>
                <a:ea typeface="Times Roman"/>
                <a:cs typeface="Times Roman"/>
                <a:sym typeface="Times Roman"/>
              </a:defRPr>
            </a:pPr>
          </a:p>
          <a:p>
            <a:pPr marL="0" indent="0" defTabSz="457200">
              <a:lnSpc>
                <a:spcPct val="100000"/>
              </a:lnSpc>
              <a:spcBef>
                <a:spcPts val="0"/>
              </a:spcBef>
              <a:buSzTx/>
              <a:buFontTx/>
              <a:buNone/>
              <a:defRPr sz="1400">
                <a:latin typeface="Times Roman"/>
                <a:ea typeface="Times Roman"/>
                <a:cs typeface="Times Roman"/>
                <a:sym typeface="Times Roman"/>
              </a:defRPr>
            </a:pPr>
          </a:p>
        </p:txBody>
      </p:sp>
      <p:sp>
        <p:nvSpPr>
          <p:cNvPr id="69" name="Title 2"/>
          <p:cNvSpPr txBox="1"/>
          <p:nvPr>
            <p:ph type="title"/>
          </p:nvPr>
        </p:nvSpPr>
        <p:spPr>
          <a:xfrm>
            <a:off x="166485" y="218260"/>
            <a:ext cx="10692015" cy="556113"/>
          </a:xfrm>
          <a:prstGeom prst="rect">
            <a:avLst/>
          </a:prstGeom>
        </p:spPr>
        <p:txBody>
          <a:bodyPr/>
          <a:lstStyle>
            <a:lvl1pPr defTabSz="740663">
              <a:defRPr sz="3159"/>
            </a:lvl1pPr>
          </a:lstStyle>
          <a:p>
            <a:pPr/>
            <a:r>
              <a:t>Conclusions</a:t>
            </a:r>
          </a:p>
        </p:txBody>
      </p:sp>
      <p:sp>
        <p:nvSpPr>
          <p:cNvPr id="70" name="Slide Number Placeholder 3"/>
          <p:cNvSpPr txBox="1"/>
          <p:nvPr>
            <p:ph type="sldNum" sz="quarter" idx="2"/>
          </p:nvPr>
        </p:nvSpPr>
        <p:spPr>
          <a:xfrm>
            <a:off x="11971996" y="6533885"/>
            <a:ext cx="220004" cy="33308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pSp>
        <p:nvGrpSpPr>
          <p:cNvPr id="73" name="Image Gallery"/>
          <p:cNvGrpSpPr/>
          <p:nvPr/>
        </p:nvGrpSpPr>
        <p:grpSpPr>
          <a:xfrm>
            <a:off x="2471883" y="3302224"/>
            <a:ext cx="7423669" cy="3260758"/>
            <a:chOff x="0" y="0"/>
            <a:chExt cx="7423667" cy="3260756"/>
          </a:xfrm>
        </p:grpSpPr>
        <p:pic>
          <p:nvPicPr>
            <p:cNvPr id="71" name="Image" descr="Image"/>
            <p:cNvPicPr>
              <a:picLocks noChangeAspect="1"/>
            </p:cNvPicPr>
            <p:nvPr/>
          </p:nvPicPr>
          <p:blipFill>
            <a:blip r:embed="rId2">
              <a:extLst/>
            </a:blip>
            <a:srcRect l="0" t="9453" r="0" b="9453"/>
            <a:stretch>
              <a:fillRect/>
            </a:stretch>
          </p:blipFill>
          <p:spPr>
            <a:xfrm>
              <a:off x="1130996" y="0"/>
              <a:ext cx="5161676" cy="2790510"/>
            </a:xfrm>
            <a:prstGeom prst="rect">
              <a:avLst/>
            </a:prstGeom>
            <a:ln w="12700" cap="flat">
              <a:noFill/>
              <a:miter lim="400000"/>
            </a:ln>
            <a:effectLst/>
          </p:spPr>
        </p:pic>
        <p:sp>
          <p:nvSpPr>
            <p:cNvPr id="72" name="Caption"/>
            <p:cNvSpPr/>
            <p:nvPr/>
          </p:nvSpPr>
          <p:spPr>
            <a:xfrm>
              <a:off x="0" y="2866709"/>
              <a:ext cx="7423668" cy="3940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t">
              <a:noAutofit/>
            </a:bodyPr>
            <a:lstStyle/>
            <a:p>
              <a:pPr/>
              <a:r>
                <a:t>Caption</a:t>
              </a:r>
            </a:p>
          </p:txBody>
        </p:sp>
      </p:gr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